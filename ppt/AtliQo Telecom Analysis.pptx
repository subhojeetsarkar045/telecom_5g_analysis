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ITC Avant Garde Gothic" charset="1" panose="020B0502020202020204"/>
      <p:regular r:id="rId27"/>
    </p:embeddedFont>
    <p:embeddedFont>
      <p:font typeface="TT Fors" charset="1" panose="020B0003030001020000"/>
      <p:regular r:id="rId28"/>
    </p:embeddedFont>
    <p:embeddedFont>
      <p:font typeface="Work Sans Semi-Bold" charset="1" panose="00000000000000000000"/>
      <p:regular r:id="rId29"/>
    </p:embeddedFont>
    <p:embeddedFont>
      <p:font typeface="Work Sans" charset="1" panose="00000000000000000000"/>
      <p:regular r:id="rId30"/>
    </p:embeddedFont>
    <p:embeddedFont>
      <p:font typeface="Work Sans Bold" charset="1" panose="00000000000000000000"/>
      <p:regular r:id="rId31"/>
    </p:embeddedFont>
    <p:embeddedFont>
      <p:font typeface="TT Fors Bold" charset="1" panose="020B0003030001020000"/>
      <p:regular r:id="rId32"/>
    </p:embeddedFont>
    <p:embeddedFont>
      <p:font typeface="ITC Avant Garde Gothic Bold" charset="1" panose="020B0802020202020204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868150" y="0"/>
            <a:ext cx="6419850" cy="10287000"/>
            <a:chOff x="0" y="0"/>
            <a:chExt cx="994603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94603" cy="1593725"/>
            </a:xfrm>
            <a:custGeom>
              <a:avLst/>
              <a:gdLst/>
              <a:ahLst/>
              <a:cxnLst/>
              <a:rect r="r" b="b" t="t" l="l"/>
              <a:pathLst>
                <a:path h="1593725" w="994603">
                  <a:moveTo>
                    <a:pt x="0" y="0"/>
                  </a:moveTo>
                  <a:lnTo>
                    <a:pt x="994603" y="0"/>
                  </a:lnTo>
                  <a:lnTo>
                    <a:pt x="994603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18201" t="0" r="-1820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9763125" cy="3682999"/>
            <a:chOff x="0" y="0"/>
            <a:chExt cx="13017500" cy="4910666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1184275"/>
              <a:ext cx="13017500" cy="37263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999"/>
                </a:lnSpc>
              </a:pPr>
              <a:r>
                <a:rPr lang="en-US" sz="9999" spc="-299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5G Impact Analysis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-104775"/>
              <a:ext cx="130175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E1E9F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ATLIQO TELECOM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63474" y="9181465"/>
            <a:ext cx="7194651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</a:pPr>
            <a:r>
              <a:rPr lang="en-US" sz="2600">
                <a:solidFill>
                  <a:srgbClr val="D0DDEF"/>
                </a:solidFill>
                <a:latin typeface="TT Fors"/>
                <a:ea typeface="TT Fors"/>
                <a:cs typeface="TT Fors"/>
                <a:sym typeface="TT Fors"/>
              </a:rPr>
              <a:t>Subhojeet Sarkar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444829" y="7829550"/>
            <a:ext cx="4846643" cy="1791955"/>
            <a:chOff x="0" y="0"/>
            <a:chExt cx="6462190" cy="238927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57225"/>
            <a:ext cx="5762625" cy="2232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 strike="noStrike" u="none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Executive Overview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1303343" y="7829550"/>
            <a:ext cx="4846643" cy="1791955"/>
            <a:chOff x="0" y="0"/>
            <a:chExt cx="6462190" cy="238927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296400" y="666750"/>
            <a:ext cx="8334375" cy="4279159"/>
            <a:chOff x="0" y="0"/>
            <a:chExt cx="2195062" cy="112702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5062" cy="1127021"/>
            </a:xfrm>
            <a:custGeom>
              <a:avLst/>
              <a:gdLst/>
              <a:ahLst/>
              <a:cxnLst/>
              <a:rect r="r" b="b" t="t" l="l"/>
              <a:pathLst>
                <a:path h="1127021" w="2195062">
                  <a:moveTo>
                    <a:pt x="37157" y="0"/>
                  </a:moveTo>
                  <a:lnTo>
                    <a:pt x="2157905" y="0"/>
                  </a:lnTo>
                  <a:cubicBezTo>
                    <a:pt x="2178426" y="0"/>
                    <a:pt x="2195062" y="16636"/>
                    <a:pt x="2195062" y="37157"/>
                  </a:cubicBezTo>
                  <a:lnTo>
                    <a:pt x="2195062" y="1089865"/>
                  </a:lnTo>
                  <a:cubicBezTo>
                    <a:pt x="2195062" y="1110386"/>
                    <a:pt x="2178426" y="1127021"/>
                    <a:pt x="2157905" y="1127021"/>
                  </a:cubicBezTo>
                  <a:lnTo>
                    <a:pt x="37157" y="1127021"/>
                  </a:lnTo>
                  <a:cubicBezTo>
                    <a:pt x="16636" y="1127021"/>
                    <a:pt x="0" y="1110386"/>
                    <a:pt x="0" y="1089865"/>
                  </a:cubicBezTo>
                  <a:lnTo>
                    <a:pt x="0" y="37157"/>
                  </a:lnTo>
                  <a:cubicBezTo>
                    <a:pt x="0" y="16636"/>
                    <a:pt x="16636" y="0"/>
                    <a:pt x="37157" y="0"/>
                  </a:cubicBezTo>
                  <a:close/>
                </a:path>
              </a:pathLst>
            </a:custGeom>
            <a:solidFill>
              <a:srgbClr val="1B3A7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195062" cy="11841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296400" y="5143500"/>
            <a:ext cx="8334375" cy="4476750"/>
            <a:chOff x="0" y="0"/>
            <a:chExt cx="2195062" cy="117906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5062" cy="1179062"/>
            </a:xfrm>
            <a:custGeom>
              <a:avLst/>
              <a:gdLst/>
              <a:ahLst/>
              <a:cxnLst/>
              <a:rect r="r" b="b" t="t" l="l"/>
              <a:pathLst>
                <a:path h="1179062" w="2195062">
                  <a:moveTo>
                    <a:pt x="37157" y="0"/>
                  </a:moveTo>
                  <a:lnTo>
                    <a:pt x="2157905" y="0"/>
                  </a:lnTo>
                  <a:cubicBezTo>
                    <a:pt x="2178426" y="0"/>
                    <a:pt x="2195062" y="16636"/>
                    <a:pt x="2195062" y="37157"/>
                  </a:cubicBezTo>
                  <a:lnTo>
                    <a:pt x="2195062" y="1141905"/>
                  </a:lnTo>
                  <a:cubicBezTo>
                    <a:pt x="2195062" y="1162426"/>
                    <a:pt x="2178426" y="1179062"/>
                    <a:pt x="2157905" y="1179062"/>
                  </a:cubicBezTo>
                  <a:lnTo>
                    <a:pt x="37157" y="1179062"/>
                  </a:lnTo>
                  <a:cubicBezTo>
                    <a:pt x="16636" y="1179062"/>
                    <a:pt x="0" y="1162426"/>
                    <a:pt x="0" y="1141905"/>
                  </a:cubicBezTo>
                  <a:lnTo>
                    <a:pt x="0" y="37157"/>
                  </a:lnTo>
                  <a:cubicBezTo>
                    <a:pt x="0" y="16636"/>
                    <a:pt x="16636" y="0"/>
                    <a:pt x="37157" y="0"/>
                  </a:cubicBezTo>
                  <a:close/>
                </a:path>
              </a:pathLst>
            </a:custGeom>
            <a:solidFill>
              <a:srgbClr val="1B3A75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2195062" cy="12362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738204" y="5438247"/>
            <a:ext cx="6216102" cy="1709843"/>
            <a:chOff x="0" y="0"/>
            <a:chExt cx="8288136" cy="2279790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-9525"/>
              <a:ext cx="8288136" cy="1203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54"/>
                </a:lnSpc>
                <a:spcBef>
                  <a:spcPct val="0"/>
                </a:spcBef>
              </a:pPr>
              <a:r>
                <a:rPr lang="en-US" b="true" sz="2962" spc="-162" strike="noStrike" u="none">
                  <a:solidFill>
                    <a:srgbClr val="AEBBDC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Revenue Drops Despite Higher ARPU across segments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1432065"/>
              <a:ext cx="8288136" cy="847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</a:pPr>
              <a:r>
                <a:rPr lang="en-US" sz="2100" spc="-115">
                  <a:solidFill>
                    <a:srgbClr val="D2D9F7"/>
                  </a:solidFill>
                  <a:latin typeface="Work Sans"/>
                  <a:ea typeface="Work Sans"/>
                  <a:cs typeface="Work Sans"/>
                  <a:sym typeface="Work Sans"/>
                </a:rPr>
                <a:t>Increased average revenue per user but </a:t>
              </a:r>
              <a:r>
                <a:rPr lang="en-US" b="true" sz="2100" spc="-115">
                  <a:solidFill>
                    <a:srgbClr val="D2D9F7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overall declines</a:t>
              </a:r>
              <a:r>
                <a:rPr lang="en-US" sz="2100" spc="-115">
                  <a:solidFill>
                    <a:srgbClr val="D2D9F7"/>
                  </a:solidFill>
                  <a:latin typeface="Work Sans"/>
                  <a:ea typeface="Work Sans"/>
                  <a:cs typeface="Work Sans"/>
                  <a:sym typeface="Work Sans"/>
                </a:rPr>
                <a:t> persist.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9972869" y="5543868"/>
            <a:ext cx="460534" cy="460534"/>
          </a:xfrm>
          <a:custGeom>
            <a:avLst/>
            <a:gdLst/>
            <a:ahLst/>
            <a:cxnLst/>
            <a:rect r="r" b="b" t="t" l="l"/>
            <a:pathLst>
              <a:path h="460534" w="460534">
                <a:moveTo>
                  <a:pt x="0" y="0"/>
                </a:moveTo>
                <a:lnTo>
                  <a:pt x="460535" y="0"/>
                </a:lnTo>
                <a:lnTo>
                  <a:pt x="460535" y="460534"/>
                </a:lnTo>
                <a:lnTo>
                  <a:pt x="0" y="4605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9972869" y="7548457"/>
            <a:ext cx="460534" cy="460534"/>
          </a:xfrm>
          <a:custGeom>
            <a:avLst/>
            <a:gdLst/>
            <a:ahLst/>
            <a:cxnLst/>
            <a:rect r="r" b="b" t="t" l="l"/>
            <a:pathLst>
              <a:path h="460534" w="460534">
                <a:moveTo>
                  <a:pt x="0" y="0"/>
                </a:moveTo>
                <a:lnTo>
                  <a:pt x="460535" y="0"/>
                </a:lnTo>
                <a:lnTo>
                  <a:pt x="460535" y="460535"/>
                </a:lnTo>
                <a:lnTo>
                  <a:pt x="0" y="4605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0738204" y="7548457"/>
            <a:ext cx="6216102" cy="1709843"/>
            <a:chOff x="0" y="0"/>
            <a:chExt cx="8288136" cy="2279790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-9525"/>
              <a:ext cx="8288136" cy="1203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54"/>
                </a:lnSpc>
                <a:spcBef>
                  <a:spcPct val="0"/>
                </a:spcBef>
              </a:pPr>
              <a:r>
                <a:rPr lang="en-US" b="true" sz="2962" spc="-162" strike="noStrike" u="none">
                  <a:solidFill>
                    <a:srgbClr val="AEBBDC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Tier-2 Cities Outperform Tier-1 in Adoption Rates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1432065"/>
              <a:ext cx="8288136" cy="847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</a:pPr>
              <a:r>
                <a:rPr lang="en-US" sz="2100" spc="-115">
                  <a:solidFill>
                    <a:srgbClr val="D2D9F7"/>
                  </a:solidFill>
                  <a:latin typeface="Work Sans"/>
                  <a:ea typeface="Work Sans"/>
                  <a:cs typeface="Work Sans"/>
                  <a:sym typeface="Work Sans"/>
                </a:rPr>
                <a:t>Emerging markets show stronger 5G </a:t>
              </a:r>
              <a:r>
                <a:rPr lang="en-US" b="true" sz="2100" spc="-115">
                  <a:solidFill>
                    <a:srgbClr val="D2D9F7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adoption trends</a:t>
              </a:r>
              <a:r>
                <a:rPr lang="en-US" sz="2100" spc="-115">
                  <a:solidFill>
                    <a:srgbClr val="D2D9F7"/>
                  </a:solidFill>
                  <a:latin typeface="Work Sans"/>
                  <a:ea typeface="Work Sans"/>
                  <a:cs typeface="Work Sans"/>
                  <a:sym typeface="Work Sans"/>
                </a:rPr>
                <a:t> than larger cities.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813163" y="1028700"/>
            <a:ext cx="6141142" cy="1395518"/>
            <a:chOff x="0" y="0"/>
            <a:chExt cx="8188190" cy="1860690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0" y="-9525"/>
              <a:ext cx="8188190" cy="1203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54"/>
                </a:lnSpc>
                <a:spcBef>
                  <a:spcPct val="0"/>
                </a:spcBef>
              </a:pPr>
              <a:r>
                <a:rPr lang="en-US" b="true" sz="2962" spc="-162" strike="noStrike" u="none">
                  <a:solidFill>
                    <a:srgbClr val="AEBBDC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5G Launched in May 2022 with expectations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1432065"/>
              <a:ext cx="8188190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</a:pPr>
              <a:r>
                <a:rPr lang="en-US" sz="2100" spc="-115">
                  <a:solidFill>
                    <a:srgbClr val="D2D9F7"/>
                  </a:solidFill>
                  <a:latin typeface="Work Sans"/>
                  <a:ea typeface="Work Sans"/>
                  <a:cs typeface="Work Sans"/>
                  <a:sym typeface="Work Sans"/>
                </a:rPr>
                <a:t>Initial excitement met with mixed </a:t>
              </a:r>
              <a:r>
                <a:rPr lang="en-US" b="true" sz="2100" spc="-115">
                  <a:solidFill>
                    <a:srgbClr val="D2D9F7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market reception</a:t>
              </a:r>
              <a:r>
                <a:rPr lang="en-US" sz="2100" spc="-115">
                  <a:solidFill>
                    <a:srgbClr val="D2D9F7"/>
                  </a:solidFill>
                  <a:latin typeface="Work Sans"/>
                  <a:ea typeface="Work Sans"/>
                  <a:cs typeface="Work Sans"/>
                  <a:sym typeface="Work Sans"/>
                </a:rPr>
                <a:t>.</a:t>
              </a: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10027758" y="1028700"/>
            <a:ext cx="460534" cy="460534"/>
          </a:xfrm>
          <a:custGeom>
            <a:avLst/>
            <a:gdLst/>
            <a:ahLst/>
            <a:cxnLst/>
            <a:rect r="r" b="b" t="t" l="l"/>
            <a:pathLst>
              <a:path h="460534" w="460534">
                <a:moveTo>
                  <a:pt x="0" y="0"/>
                </a:moveTo>
                <a:lnTo>
                  <a:pt x="460534" y="0"/>
                </a:lnTo>
                <a:lnTo>
                  <a:pt x="460534" y="460534"/>
                </a:lnTo>
                <a:lnTo>
                  <a:pt x="0" y="4605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10758275" y="2802679"/>
            <a:ext cx="6141142" cy="1709843"/>
            <a:chOff x="0" y="0"/>
            <a:chExt cx="8188190" cy="2279790"/>
          </a:xfrm>
        </p:grpSpPr>
        <p:sp>
          <p:nvSpPr>
            <p:cNvPr name="TextBox 26" id="26"/>
            <p:cNvSpPr txBox="true"/>
            <p:nvPr/>
          </p:nvSpPr>
          <p:spPr>
            <a:xfrm rot="0">
              <a:off x="0" y="-9525"/>
              <a:ext cx="8188190" cy="1203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54"/>
                </a:lnSpc>
                <a:spcBef>
                  <a:spcPct val="0"/>
                </a:spcBef>
              </a:pPr>
              <a:r>
                <a:rPr lang="en-US" b="true" sz="2962" spc="-162" strike="noStrike" u="none">
                  <a:solidFill>
                    <a:srgbClr val="AEBBDC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Active Users Decline, Leading to Churn Issues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0" y="1432065"/>
              <a:ext cx="8188190" cy="847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</a:pPr>
              <a:r>
                <a:rPr lang="en-US" sz="2100" spc="-115">
                  <a:solidFill>
                    <a:srgbClr val="D2D9F7"/>
                  </a:solidFill>
                  <a:latin typeface="Work Sans"/>
                  <a:ea typeface="Work Sans"/>
                  <a:cs typeface="Work Sans"/>
                  <a:sym typeface="Work Sans"/>
                </a:rPr>
                <a:t>User retention challenges have resulted in </a:t>
              </a:r>
              <a:r>
                <a:rPr lang="en-US" b="true" sz="2100" spc="-115">
                  <a:solidFill>
                    <a:srgbClr val="D2D9F7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increased churn rates</a:t>
              </a:r>
              <a:r>
                <a:rPr lang="en-US" sz="2100" spc="-115">
                  <a:solidFill>
                    <a:srgbClr val="D2D9F7"/>
                  </a:solidFill>
                  <a:latin typeface="Work Sans"/>
                  <a:ea typeface="Work Sans"/>
                  <a:cs typeface="Work Sans"/>
                  <a:sym typeface="Work Sans"/>
                </a:rPr>
                <a:t>.</a:t>
              </a: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9972869" y="2802679"/>
            <a:ext cx="460534" cy="460534"/>
          </a:xfrm>
          <a:custGeom>
            <a:avLst/>
            <a:gdLst/>
            <a:ahLst/>
            <a:cxnLst/>
            <a:rect r="r" b="b" t="t" l="l"/>
            <a:pathLst>
              <a:path h="460534" w="460534">
                <a:moveTo>
                  <a:pt x="0" y="0"/>
                </a:moveTo>
                <a:lnTo>
                  <a:pt x="460535" y="0"/>
                </a:lnTo>
                <a:lnTo>
                  <a:pt x="460535" y="460534"/>
                </a:lnTo>
                <a:lnTo>
                  <a:pt x="0" y="4605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48854" y="752281"/>
            <a:ext cx="2190291" cy="809819"/>
            <a:chOff x="0" y="0"/>
            <a:chExt cx="2920388" cy="10797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920315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840630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3198213" y="2874885"/>
            <a:ext cx="11891573" cy="1348895"/>
          </a:xfrm>
          <a:custGeom>
            <a:avLst/>
            <a:gdLst/>
            <a:ahLst/>
            <a:cxnLst/>
            <a:rect r="r" b="b" t="t" l="l"/>
            <a:pathLst>
              <a:path h="1348895" w="11891573">
                <a:moveTo>
                  <a:pt x="0" y="0"/>
                </a:moveTo>
                <a:lnTo>
                  <a:pt x="11891574" y="0"/>
                </a:lnTo>
                <a:lnTo>
                  <a:pt x="11891574" y="1348895"/>
                </a:lnTo>
                <a:lnTo>
                  <a:pt x="0" y="13488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543300" y="5143500"/>
            <a:ext cx="11201400" cy="3721734"/>
            <a:chOff x="0" y="0"/>
            <a:chExt cx="14935200" cy="4962312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2018241"/>
              <a:ext cx="14935200" cy="6512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200"/>
                </a:lnSpc>
                <a:spcBef>
                  <a:spcPct val="0"/>
                </a:spcBef>
              </a:pPr>
              <a:r>
                <a:rPr lang="en-US" sz="3200" spc="-96" strike="noStrike" u="none">
                  <a:solidFill>
                    <a:srgbClr val="E1E9F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Total Revenue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3173941"/>
              <a:ext cx="14935200" cy="17883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trike="noStrike" u="none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Total revenue has decreased by </a:t>
              </a:r>
              <a:r>
                <a:rPr lang="en-US" b="true" sz="2600" strike="noStrike" u="none">
                  <a:solidFill>
                    <a:srgbClr val="D0DDE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0.50%</a:t>
              </a:r>
              <a:r>
                <a:rPr lang="en-US" sz="2600" strike="noStrike" u="none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, indicating a need for strategic initiatives despite increasing ARPU, highlighting the challenge of a shrinking customer base.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9525"/>
              <a:ext cx="14935200" cy="20372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9999"/>
                </a:lnSpc>
                <a:spcBef>
                  <a:spcPct val="0"/>
                </a:spcBef>
              </a:pPr>
              <a:r>
                <a:rPr lang="en-US" sz="9999" spc="-299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₹31.9bn ▼ -0.50%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48854" y="752281"/>
            <a:ext cx="2190291" cy="809819"/>
            <a:chOff x="0" y="0"/>
            <a:chExt cx="2920388" cy="10797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920315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840630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3189044" y="2652563"/>
            <a:ext cx="11909912" cy="1400474"/>
          </a:xfrm>
          <a:custGeom>
            <a:avLst/>
            <a:gdLst/>
            <a:ahLst/>
            <a:cxnLst/>
            <a:rect r="r" b="b" t="t" l="l"/>
            <a:pathLst>
              <a:path h="1400474" w="11909912">
                <a:moveTo>
                  <a:pt x="0" y="0"/>
                </a:moveTo>
                <a:lnTo>
                  <a:pt x="11909912" y="0"/>
                </a:lnTo>
                <a:lnTo>
                  <a:pt x="11909912" y="1400474"/>
                </a:lnTo>
                <a:lnTo>
                  <a:pt x="0" y="14004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8492371" y="5143500"/>
            <a:ext cx="1303258" cy="1140351"/>
            <a:chOff x="0" y="0"/>
            <a:chExt cx="812800" cy="711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27000" y="320675"/>
              <a:ext cx="558800" cy="339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543300" y="5143500"/>
            <a:ext cx="11555656" cy="4178934"/>
            <a:chOff x="0" y="0"/>
            <a:chExt cx="15407541" cy="5571912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2018241"/>
              <a:ext cx="15407541" cy="6512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200"/>
                </a:lnSpc>
                <a:spcBef>
                  <a:spcPct val="0"/>
                </a:spcBef>
              </a:pPr>
              <a:r>
                <a:rPr lang="en-US" sz="3200" spc="-96">
                  <a:solidFill>
                    <a:srgbClr val="E1E9F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Average </a:t>
              </a:r>
              <a:r>
                <a:rPr lang="en-US" sz="3200" spc="-96" strike="noStrike" u="none">
                  <a:solidFill>
                    <a:srgbClr val="E1E9F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Revenue Per User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3173941"/>
              <a:ext cx="15407541" cy="23979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ARPU h</a:t>
              </a:r>
              <a:r>
                <a:rPr lang="en-US" sz="2600" strike="noStrike" u="none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a</a:t>
              </a:r>
              <a:r>
                <a:rPr lang="en-US" sz="2600" strike="noStrike" u="none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s</a:t>
              </a:r>
              <a:r>
                <a:rPr lang="en-US" sz="2600" strike="noStrike" u="none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2600" strike="noStrike" u="none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show</a:t>
              </a:r>
              <a:r>
                <a:rPr lang="en-US" sz="2600" strike="noStrike" u="none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n </a:t>
              </a:r>
              <a:r>
                <a:rPr lang="en-US" sz="2600" strike="noStrike" u="none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signific</a:t>
              </a:r>
              <a:r>
                <a:rPr lang="en-US" sz="2600" strike="noStrike" u="none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a</a:t>
              </a:r>
              <a:r>
                <a:rPr lang="en-US" sz="2600" strike="noStrike" u="none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nt</a:t>
              </a:r>
              <a:r>
                <a:rPr lang="en-US" sz="2600" strike="noStrike" u="none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 ra</a:t>
              </a:r>
              <a:r>
                <a:rPr lang="en-US" sz="2600" strike="noStrike" u="none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i</a:t>
              </a:r>
              <a:r>
                <a:rPr lang="en-US" sz="2600" strike="noStrike" u="none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se </a:t>
              </a:r>
              <a:r>
                <a:rPr lang="en-US" sz="2600" strike="noStrike" u="none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of</a:t>
              </a:r>
              <a:r>
                <a:rPr lang="en-US" sz="2600" strike="noStrike" u="none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b="true" sz="2600" strike="noStrike" u="none">
                  <a:solidFill>
                    <a:srgbClr val="D0DDE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11.05%</a:t>
              </a:r>
              <a:r>
                <a:rPr lang="en-US" b="true" sz="2600" strike="noStrike" u="none">
                  <a:solidFill>
                    <a:srgbClr val="D0DDE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 </a:t>
              </a:r>
              <a:r>
                <a:rPr lang="en-US" sz="2600" strike="noStrike" u="none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d</a:t>
              </a:r>
              <a:r>
                <a:rPr lang="en-US" sz="2600" strike="noStrike" u="none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esp</a:t>
              </a:r>
              <a:r>
                <a:rPr lang="en-US" sz="2600" strike="noStrike" u="none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ite t</a:t>
              </a:r>
              <a:r>
                <a:rPr lang="en-US" sz="2600" strike="noStrike" u="none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he</a:t>
              </a:r>
            </a:p>
            <a:p>
              <a:pPr algn="ctr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trike="noStrike" u="none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f</a:t>
              </a:r>
              <a:r>
                <a:rPr lang="en-US" sz="2600" strike="noStrike" u="none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ac</a:t>
              </a:r>
              <a:r>
                <a:rPr lang="en-US" sz="2600" strike="noStrike" u="none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t</a:t>
              </a:r>
              <a:r>
                <a:rPr lang="en-US" sz="2600" strike="noStrike" u="none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 i</a:t>
              </a:r>
              <a:r>
                <a:rPr lang="en-US" sz="2600" strike="noStrike" u="none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s Mo</a:t>
              </a:r>
              <a:r>
                <a:rPr lang="en-US" sz="2600" strike="noStrike" u="none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nt</a:t>
              </a:r>
              <a:r>
                <a:rPr lang="en-US" sz="2600" strike="noStrike" u="none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hly </a:t>
              </a:r>
              <a:r>
                <a:rPr lang="en-US" sz="2600" strike="noStrike" u="none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a</a:t>
              </a:r>
              <a:r>
                <a:rPr lang="en-US" sz="2600" strike="noStrike" u="none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c</a:t>
              </a:r>
              <a:r>
                <a:rPr lang="en-US" sz="2600" strike="noStrike" u="none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tive </a:t>
              </a:r>
              <a:r>
                <a:rPr lang="en-US" sz="2600" strike="noStrike" u="none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u</a:t>
              </a:r>
              <a:r>
                <a:rPr lang="en-US" sz="2600" strike="noStrike" u="none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sers ha</a:t>
              </a:r>
              <a:r>
                <a:rPr lang="en-US" sz="2600" strike="noStrike" u="none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s </a:t>
              </a:r>
              <a:r>
                <a:rPr lang="en-US" sz="2600" strike="noStrike" u="none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l</a:t>
              </a:r>
              <a:r>
                <a:rPr lang="en-US" sz="2600" strike="noStrike" u="none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ow</a:t>
              </a:r>
              <a:r>
                <a:rPr lang="en-US" sz="2600" strike="noStrike" u="none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e</a:t>
              </a:r>
              <a:r>
                <a:rPr lang="en-US" sz="2600" strike="noStrike" u="none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r</a:t>
              </a:r>
              <a:r>
                <a:rPr lang="en-US" sz="2600" strike="noStrike" u="none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e</a:t>
              </a:r>
              <a:r>
                <a:rPr lang="en-US" sz="2600" strike="noStrike" u="none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d</a:t>
              </a:r>
              <a:r>
                <a:rPr lang="en-US" sz="2600" strike="noStrike" u="none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2600" strike="noStrike" u="none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t</a:t>
              </a:r>
              <a:r>
                <a:rPr lang="en-US" sz="2600" strike="noStrike" u="none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o </a:t>
              </a:r>
              <a:r>
                <a:rPr lang="en-US" b="true" sz="2600" strike="noStrike" u="none">
                  <a:solidFill>
                    <a:srgbClr val="D0DDE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8.28%</a:t>
              </a:r>
              <a:r>
                <a:rPr lang="en-US" sz="2600" strike="noStrike" u="none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2600" strike="noStrike" u="none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a</a:t>
              </a:r>
              <a:r>
                <a:rPr lang="en-US" sz="2600" strike="noStrike" u="none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n</a:t>
              </a:r>
              <a:r>
                <a:rPr lang="en-US" sz="2600" strike="noStrike" u="none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d</a:t>
              </a:r>
            </a:p>
            <a:p>
              <a:pPr algn="ctr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trike="noStrike" u="none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mo</a:t>
              </a:r>
              <a:r>
                <a:rPr lang="en-US" sz="2600" strike="noStrike" u="none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n</a:t>
              </a:r>
              <a:r>
                <a:rPr lang="en-US" sz="2600" strike="noStrike" u="none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thly</a:t>
              </a:r>
              <a:r>
                <a:rPr lang="en-US" sz="2600" strike="noStrike" u="none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 user</a:t>
              </a:r>
              <a:r>
                <a:rPr lang="en-US" sz="2600" strike="noStrike" u="none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s</a:t>
              </a:r>
              <a:r>
                <a:rPr lang="en-US" sz="2600" strike="noStrike" u="none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2600" strike="noStrike" u="none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unsu</a:t>
              </a:r>
              <a:r>
                <a:rPr lang="en-US" sz="2600" strike="noStrike" u="none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b</a:t>
              </a:r>
              <a:r>
                <a:rPr lang="en-US" sz="2600" strike="noStrike" u="none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scribed r</a:t>
              </a:r>
              <a:r>
                <a:rPr lang="en-US" sz="2600" strike="noStrike" u="none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a</a:t>
              </a:r>
              <a:r>
                <a:rPr lang="en-US" sz="2600" strike="noStrike" u="none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te i</a:t>
              </a:r>
              <a:r>
                <a:rPr lang="en-US" sz="2600" strike="noStrike" u="none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s</a:t>
              </a:r>
              <a:r>
                <a:rPr lang="en-US" sz="2600" strike="noStrike" u="none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 notic</a:t>
              </a:r>
              <a:r>
                <a:rPr lang="en-US" sz="2600" strike="noStrike" u="none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e</a:t>
              </a:r>
              <a:r>
                <a:rPr lang="en-US" sz="2600" strike="noStrike" u="none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ably higher</a:t>
              </a:r>
            </a:p>
            <a:p>
              <a:pPr algn="ctr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b="true" sz="2600" strike="noStrike" u="none">
                  <a:solidFill>
                    <a:srgbClr val="D0DDE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23</a:t>
              </a:r>
              <a:r>
                <a:rPr lang="en-US" b="true" sz="2600" strike="noStrike" u="none">
                  <a:solidFill>
                    <a:srgbClr val="D0DDE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.</a:t>
              </a:r>
              <a:r>
                <a:rPr lang="en-US" b="true" sz="2600" strike="noStrike" u="none">
                  <a:solidFill>
                    <a:srgbClr val="D0DDE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50%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9525"/>
              <a:ext cx="15407541" cy="20372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9999"/>
                </a:lnSpc>
                <a:spcBef>
                  <a:spcPct val="0"/>
                </a:spcBef>
              </a:pPr>
              <a:r>
                <a:rPr lang="en-US" sz="9999" spc="-299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   </a:t>
              </a:r>
              <a:r>
                <a:rPr lang="en-US" sz="9999" spc="-299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₹200.7      +11.05%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48854" y="752281"/>
            <a:ext cx="2190291" cy="809819"/>
            <a:chOff x="0" y="0"/>
            <a:chExt cx="2920388" cy="10797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920315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840630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3543300" y="3128645"/>
            <a:ext cx="11201400" cy="4029710"/>
            <a:chOff x="0" y="0"/>
            <a:chExt cx="14935200" cy="5372947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9525"/>
              <a:ext cx="14935200" cy="6512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200"/>
                </a:lnSpc>
                <a:spcBef>
                  <a:spcPct val="0"/>
                </a:spcBef>
              </a:pPr>
              <a:r>
                <a:rPr lang="en-US" sz="3200" spc="-96">
                  <a:solidFill>
                    <a:srgbClr val="E1E9F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Conclusion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146175"/>
              <a:ext cx="14935200" cy="42267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Thi</a:t>
              </a:r>
              <a:r>
                <a:rPr lang="en-US" sz="2600" strike="noStrike" u="none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s is</a:t>
              </a:r>
              <a:r>
                <a:rPr lang="en-US" sz="2600" strike="noStrike" u="none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2600" strike="noStrike" u="none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only possi</a:t>
              </a:r>
              <a:r>
                <a:rPr lang="en-US" sz="2600" strike="noStrike" u="none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ble whe</a:t>
              </a:r>
              <a:r>
                <a:rPr lang="en-US" sz="2600" strike="noStrike" u="none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n</a:t>
              </a:r>
              <a:r>
                <a:rPr lang="en-US" sz="2600" strike="noStrike" u="none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 5G pl</a:t>
              </a:r>
              <a:r>
                <a:rPr lang="en-US" sz="2600" strike="noStrike" u="none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an pri</a:t>
              </a:r>
              <a:r>
                <a:rPr lang="en-US" sz="2600" strike="noStrike" u="none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c</a:t>
              </a:r>
              <a:r>
                <a:rPr lang="en-US" sz="2600" strike="noStrike" u="none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es must be </a:t>
              </a:r>
              <a:r>
                <a:rPr lang="en-US" sz="2600" strike="noStrike" u="none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v</a:t>
              </a:r>
              <a:r>
                <a:rPr lang="en-US" sz="2600" strike="noStrike" u="none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e</a:t>
              </a:r>
              <a:r>
                <a:rPr lang="en-US" sz="2600" strike="noStrike" u="none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ry h</a:t>
              </a:r>
              <a:r>
                <a:rPr lang="en-US" sz="2600" strike="noStrike" u="none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igh and that could be the</a:t>
              </a:r>
              <a:r>
                <a:rPr lang="en-US" sz="2600" strike="noStrike" u="none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 re</a:t>
              </a:r>
              <a:r>
                <a:rPr lang="en-US" sz="2600" strike="noStrike" u="none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ason for declined in </a:t>
              </a:r>
              <a:r>
                <a:rPr lang="en-US" sz="2600" strike="noStrike" u="none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m</a:t>
              </a:r>
              <a:r>
                <a:rPr lang="en-US" sz="2600" strike="noStrike" u="none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onthly active user rate , ris</a:t>
              </a:r>
              <a:r>
                <a:rPr lang="en-US" sz="2600" strike="noStrike" u="none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e</a:t>
              </a:r>
              <a:r>
                <a:rPr lang="en-US" sz="2600" strike="noStrike" u="none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2600" strike="noStrike" u="none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in </a:t>
              </a:r>
              <a:r>
                <a:rPr lang="en-US" sz="2600" strike="noStrike" u="none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r</a:t>
              </a:r>
              <a:r>
                <a:rPr lang="en-US" sz="2600" strike="noStrike" u="none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at</a:t>
              </a:r>
              <a:r>
                <a:rPr lang="en-US" sz="2600" strike="noStrike" u="none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e for monthly unsubscribed </a:t>
              </a:r>
              <a:r>
                <a:rPr lang="en-US" sz="2600" strike="noStrike" u="none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use</a:t>
              </a:r>
              <a:r>
                <a:rPr lang="en-US" sz="2600" strike="noStrike" u="none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r</a:t>
              </a:r>
              <a:r>
                <a:rPr lang="en-US" sz="2600" strike="noStrike" u="none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2600" strike="noStrike" u="none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as well as very lit</a:t>
              </a:r>
              <a:r>
                <a:rPr lang="en-US" sz="2600" strike="noStrike" u="none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tle chang</a:t>
              </a:r>
              <a:r>
                <a:rPr lang="en-US" sz="2600" strike="noStrike" u="none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e i</a:t>
              </a:r>
              <a:r>
                <a:rPr lang="en-US" sz="2600" strike="noStrike" u="none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n Avg. Revenue po</a:t>
              </a:r>
              <a:r>
                <a:rPr lang="en-US" sz="2600" strike="noStrike" u="none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st </a:t>
              </a:r>
              <a:r>
                <a:rPr lang="en-US" sz="2600" strike="noStrike" u="none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5G lau</a:t>
              </a:r>
              <a:r>
                <a:rPr lang="en-US" sz="2600" strike="noStrike" u="none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n</a:t>
              </a:r>
              <a:r>
                <a:rPr lang="en-US" sz="2600" strike="noStrike" u="none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ch.</a:t>
              </a:r>
            </a:p>
            <a:p>
              <a:pPr algn="ctr" marL="0" indent="0" lvl="0">
                <a:lnSpc>
                  <a:spcPts val="3640"/>
                </a:lnSpc>
                <a:spcBef>
                  <a:spcPct val="0"/>
                </a:spcBef>
              </a:pPr>
            </a:p>
            <a:p>
              <a:pPr algn="ctr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trike="noStrike" u="none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S</a:t>
              </a:r>
              <a:r>
                <a:rPr lang="en-US" sz="2600" strike="noStrike" u="none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o</a:t>
              </a:r>
              <a:r>
                <a:rPr lang="en-US" sz="2600" strike="noStrike" u="none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mewhere higher pr</a:t>
              </a:r>
              <a:r>
                <a:rPr lang="en-US" sz="2600" strike="noStrike" u="none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ices for 5G pl</a:t>
              </a:r>
              <a:r>
                <a:rPr lang="en-US" sz="2600" strike="noStrike" u="none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ans in compensating the effect for</a:t>
              </a:r>
              <a:r>
                <a:rPr lang="en-US" sz="2600" strike="noStrike" u="none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 higher</a:t>
              </a:r>
              <a:r>
                <a:rPr lang="en-US" sz="2600" strike="noStrike" u="none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 monthly unsubscribed user rate</a:t>
              </a:r>
              <a:r>
                <a:rPr lang="en-US" sz="2600" strike="noStrike" u="none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744700" y="7829550"/>
            <a:ext cx="4846643" cy="1791955"/>
            <a:chOff x="0" y="0"/>
            <a:chExt cx="6462190" cy="23892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8416023" y="2316815"/>
            <a:ext cx="8154616" cy="2369380"/>
          </a:xfrm>
          <a:custGeom>
            <a:avLst/>
            <a:gdLst/>
            <a:ahLst/>
            <a:cxnLst/>
            <a:rect r="r" b="b" t="t" l="l"/>
            <a:pathLst>
              <a:path h="2369380" w="8154616">
                <a:moveTo>
                  <a:pt x="0" y="0"/>
                </a:moveTo>
                <a:lnTo>
                  <a:pt x="8154616" y="0"/>
                </a:lnTo>
                <a:lnTo>
                  <a:pt x="8154616" y="2369380"/>
                </a:lnTo>
                <a:lnTo>
                  <a:pt x="0" y="23693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5123410"/>
            <a:ext cx="10702716" cy="2697997"/>
          </a:xfrm>
          <a:custGeom>
            <a:avLst/>
            <a:gdLst/>
            <a:ahLst/>
            <a:cxnLst/>
            <a:rect r="r" b="b" t="t" l="l"/>
            <a:pathLst>
              <a:path h="2697997" w="10702716">
                <a:moveTo>
                  <a:pt x="0" y="0"/>
                </a:moveTo>
                <a:lnTo>
                  <a:pt x="10702716" y="0"/>
                </a:lnTo>
                <a:lnTo>
                  <a:pt x="10702716" y="2697997"/>
                </a:lnTo>
                <a:lnTo>
                  <a:pt x="0" y="26979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66750" y="657225"/>
            <a:ext cx="11201400" cy="122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Revenue Analysis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067996" y="2932863"/>
            <a:ext cx="4365558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940"/>
              </a:lnSpc>
            </a:pPr>
            <a:r>
              <a:rPr lang="en-US" sz="2100">
                <a:solidFill>
                  <a:srgbClr val="D0DDEF"/>
                </a:solidFill>
                <a:latin typeface="TT Fors"/>
                <a:ea typeface="TT Fors"/>
                <a:cs typeface="TT Fors"/>
                <a:sym typeface="TT Fors"/>
              </a:rPr>
              <a:t>Mu</a:t>
            </a:r>
            <a:r>
              <a:rPr lang="en-US" sz="2100">
                <a:solidFill>
                  <a:srgbClr val="D0DDEF"/>
                </a:solidFill>
                <a:latin typeface="TT Fors"/>
                <a:ea typeface="TT Fors"/>
                <a:cs typeface="TT Fors"/>
                <a:sym typeface="TT Fors"/>
              </a:rPr>
              <a:t>m</a:t>
            </a:r>
            <a:r>
              <a:rPr lang="en-US" sz="2100">
                <a:solidFill>
                  <a:srgbClr val="D0DDEF"/>
                </a:solidFill>
                <a:latin typeface="TT Fors"/>
                <a:ea typeface="TT Fors"/>
                <a:cs typeface="TT Fors"/>
                <a:sym typeface="TT Fors"/>
              </a:rPr>
              <a:t>b</a:t>
            </a:r>
            <a:r>
              <a:rPr lang="en-US" sz="2100">
                <a:solidFill>
                  <a:srgbClr val="D0DDEF"/>
                </a:solidFill>
                <a:latin typeface="TT Fors"/>
                <a:ea typeface="TT Fors"/>
                <a:cs typeface="TT Fors"/>
                <a:sym typeface="TT Fors"/>
              </a:rPr>
              <a:t>a</a:t>
            </a:r>
            <a:r>
              <a:rPr lang="en-US" sz="2100">
                <a:solidFill>
                  <a:srgbClr val="D0DDEF"/>
                </a:solidFill>
                <a:latin typeface="TT Fors"/>
                <a:ea typeface="TT Fors"/>
                <a:cs typeface="TT Fors"/>
                <a:sym typeface="TT Fors"/>
              </a:rPr>
              <a:t>i,</a:t>
            </a:r>
            <a:r>
              <a:rPr lang="en-US" sz="2100">
                <a:solidFill>
                  <a:srgbClr val="D0DDEF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2100">
                <a:solidFill>
                  <a:srgbClr val="D0DDEF"/>
                </a:solidFill>
                <a:latin typeface="TT Fors"/>
                <a:ea typeface="TT Fors"/>
                <a:cs typeface="TT Fors"/>
                <a:sym typeface="TT Fors"/>
              </a:rPr>
              <a:t>D</a:t>
            </a:r>
            <a:r>
              <a:rPr lang="en-US" sz="2100">
                <a:solidFill>
                  <a:srgbClr val="D0DDEF"/>
                </a:solidFill>
                <a:latin typeface="TT Fors"/>
                <a:ea typeface="TT Fors"/>
                <a:cs typeface="TT Fors"/>
                <a:sym typeface="TT Fors"/>
              </a:rPr>
              <a:t>el</a:t>
            </a:r>
            <a:r>
              <a:rPr lang="en-US" sz="2100">
                <a:solidFill>
                  <a:srgbClr val="D0DDEF"/>
                </a:solidFill>
                <a:latin typeface="TT Fors"/>
                <a:ea typeface="TT Fors"/>
                <a:cs typeface="TT Fors"/>
                <a:sym typeface="TT Fors"/>
              </a:rPr>
              <a:t>hi, Kolkata, Banglore &amp; Chennai are the Top 5 cities in Average Revenue.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178254" y="5718028"/>
            <a:ext cx="4608197" cy="1470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</a:pPr>
            <a:r>
              <a:rPr lang="en-US" sz="2100">
                <a:solidFill>
                  <a:srgbClr val="D0DDEF"/>
                </a:solidFill>
                <a:latin typeface="TT Fors"/>
                <a:ea typeface="TT Fors"/>
                <a:cs typeface="TT Fors"/>
                <a:sym typeface="TT Fors"/>
              </a:rPr>
              <a:t>In</a:t>
            </a:r>
            <a:r>
              <a:rPr lang="en-US" sz="2100">
                <a:solidFill>
                  <a:srgbClr val="D0DDEF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2100">
                <a:solidFill>
                  <a:srgbClr val="D0DDEF"/>
                </a:solidFill>
                <a:latin typeface="TT Fors"/>
                <a:ea typeface="TT Fors"/>
                <a:cs typeface="TT Fors"/>
                <a:sym typeface="TT Fors"/>
              </a:rPr>
              <a:t>D</a:t>
            </a:r>
            <a:r>
              <a:rPr lang="en-US" sz="2100">
                <a:solidFill>
                  <a:srgbClr val="D0DDEF"/>
                </a:solidFill>
                <a:latin typeface="TT Fors"/>
                <a:ea typeface="TT Fors"/>
                <a:cs typeface="TT Fors"/>
                <a:sym typeface="TT Fors"/>
              </a:rPr>
              <a:t>el</a:t>
            </a:r>
            <a:r>
              <a:rPr lang="en-US" sz="2100">
                <a:solidFill>
                  <a:srgbClr val="D0DDEF"/>
                </a:solidFill>
                <a:latin typeface="TT Fors"/>
                <a:ea typeface="TT Fors"/>
                <a:cs typeface="TT Fors"/>
                <a:sym typeface="TT Fors"/>
              </a:rPr>
              <a:t>hi, Chennai, Ahmedabad, Hyderabad, Chandigarh &amp; Kolkata AVG. Revenue found to be declining for Post 5G Launch Period.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8221457"/>
            <a:ext cx="10333435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40"/>
              </a:lnSpc>
            </a:pPr>
            <a:r>
              <a:rPr lang="en-US" sz="2100">
                <a:solidFill>
                  <a:srgbClr val="D0DDEF"/>
                </a:solidFill>
                <a:latin typeface="TT Fors"/>
                <a:ea typeface="TT Fors"/>
                <a:cs typeface="TT Fors"/>
                <a:sym typeface="TT Fors"/>
              </a:rPr>
              <a:t>Mu</a:t>
            </a:r>
            <a:r>
              <a:rPr lang="en-US" sz="2100">
                <a:solidFill>
                  <a:srgbClr val="D0DDEF"/>
                </a:solidFill>
                <a:latin typeface="TT Fors"/>
                <a:ea typeface="TT Fors"/>
                <a:cs typeface="TT Fors"/>
                <a:sym typeface="TT Fors"/>
              </a:rPr>
              <a:t>m</a:t>
            </a:r>
            <a:r>
              <a:rPr lang="en-US" sz="2100">
                <a:solidFill>
                  <a:srgbClr val="D0DDEF"/>
                </a:solidFill>
                <a:latin typeface="TT Fors"/>
                <a:ea typeface="TT Fors"/>
                <a:cs typeface="TT Fors"/>
                <a:sym typeface="TT Fors"/>
              </a:rPr>
              <a:t>b</a:t>
            </a:r>
            <a:r>
              <a:rPr lang="en-US" sz="2100">
                <a:solidFill>
                  <a:srgbClr val="D0DDEF"/>
                </a:solidFill>
                <a:latin typeface="TT Fors"/>
                <a:ea typeface="TT Fors"/>
                <a:cs typeface="TT Fors"/>
                <a:sym typeface="TT Fors"/>
              </a:rPr>
              <a:t>a</a:t>
            </a:r>
            <a:r>
              <a:rPr lang="en-US" sz="2100">
                <a:solidFill>
                  <a:srgbClr val="D0DDEF"/>
                </a:solidFill>
                <a:latin typeface="TT Fors"/>
                <a:ea typeface="TT Fors"/>
                <a:cs typeface="TT Fors"/>
                <a:sym typeface="TT Fors"/>
              </a:rPr>
              <a:t>i,</a:t>
            </a:r>
            <a:r>
              <a:rPr lang="en-US" sz="2100">
                <a:solidFill>
                  <a:srgbClr val="D0DDEF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2100">
                <a:solidFill>
                  <a:srgbClr val="D0DDEF"/>
                </a:solidFill>
                <a:latin typeface="TT Fors"/>
                <a:ea typeface="TT Fors"/>
                <a:cs typeface="TT Fors"/>
                <a:sym typeface="TT Fors"/>
              </a:rPr>
              <a:t>Bangalore &amp; Pune are few cities some of the Top revenue contributors which have shown positive growth of AVG Revenue for Post 5G Launch Period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744700" y="7829550"/>
            <a:ext cx="4846643" cy="1791955"/>
            <a:chOff x="0" y="0"/>
            <a:chExt cx="6462190" cy="23892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9056108" y="2309164"/>
            <a:ext cx="7730343" cy="2384682"/>
          </a:xfrm>
          <a:custGeom>
            <a:avLst/>
            <a:gdLst/>
            <a:ahLst/>
            <a:cxnLst/>
            <a:rect r="r" b="b" t="t" l="l"/>
            <a:pathLst>
              <a:path h="2384682" w="7730343">
                <a:moveTo>
                  <a:pt x="0" y="0"/>
                </a:moveTo>
                <a:lnTo>
                  <a:pt x="7730343" y="0"/>
                </a:lnTo>
                <a:lnTo>
                  <a:pt x="7730343" y="2384682"/>
                </a:lnTo>
                <a:lnTo>
                  <a:pt x="0" y="23846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64408" y="5288477"/>
            <a:ext cx="9997727" cy="2373219"/>
          </a:xfrm>
          <a:custGeom>
            <a:avLst/>
            <a:gdLst/>
            <a:ahLst/>
            <a:cxnLst/>
            <a:rect r="r" b="b" t="t" l="l"/>
            <a:pathLst>
              <a:path h="2373219" w="9997727">
                <a:moveTo>
                  <a:pt x="0" y="0"/>
                </a:moveTo>
                <a:lnTo>
                  <a:pt x="9997727" y="0"/>
                </a:lnTo>
                <a:lnTo>
                  <a:pt x="9997727" y="2373219"/>
                </a:lnTo>
                <a:lnTo>
                  <a:pt x="0" y="23732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357" t="-4041" r="-8163" b="-7072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66750" y="657225"/>
            <a:ext cx="11201400" cy="122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Revenue Analysis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084671" y="2747125"/>
            <a:ext cx="4365558" cy="1470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940"/>
              </a:lnSpc>
            </a:pPr>
            <a:r>
              <a:rPr lang="en-US" sz="2100">
                <a:solidFill>
                  <a:srgbClr val="D0DDEF"/>
                </a:solidFill>
                <a:latin typeface="TT Fors"/>
                <a:ea typeface="TT Fors"/>
                <a:cs typeface="TT Fors"/>
                <a:sym typeface="TT Fors"/>
              </a:rPr>
              <a:t>ARPU h</a:t>
            </a:r>
            <a:r>
              <a:rPr lang="en-US" sz="2100">
                <a:solidFill>
                  <a:srgbClr val="D0DDEF"/>
                </a:solidFill>
                <a:latin typeface="TT Fors"/>
                <a:ea typeface="TT Fors"/>
                <a:cs typeface="TT Fors"/>
                <a:sym typeface="TT Fors"/>
              </a:rPr>
              <a:t>as s</a:t>
            </a:r>
            <a:r>
              <a:rPr lang="en-US" sz="2100">
                <a:solidFill>
                  <a:srgbClr val="D0DDEF"/>
                </a:solidFill>
                <a:latin typeface="TT Fors"/>
                <a:ea typeface="TT Fors"/>
                <a:cs typeface="TT Fors"/>
                <a:sym typeface="TT Fors"/>
              </a:rPr>
              <a:t>hown better performance in post 5G Launch compared to declined in AVG Revenue for most cities.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868150" y="5878793"/>
            <a:ext cx="4608197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</a:pPr>
            <a:r>
              <a:rPr lang="en-US" sz="2100">
                <a:solidFill>
                  <a:srgbClr val="D0DDEF"/>
                </a:solidFill>
                <a:latin typeface="TT Fors"/>
                <a:ea typeface="TT Fors"/>
                <a:cs typeface="TT Fors"/>
                <a:sym typeface="TT Fors"/>
              </a:rPr>
              <a:t>Pune</a:t>
            </a:r>
            <a:r>
              <a:rPr lang="en-US" sz="2100">
                <a:solidFill>
                  <a:srgbClr val="D0DDEF"/>
                </a:solidFill>
                <a:latin typeface="TT Fors"/>
                <a:ea typeface="TT Fors"/>
                <a:cs typeface="TT Fors"/>
                <a:sym typeface="TT Fors"/>
              </a:rPr>
              <a:t> has sharp decline of 12.88% in ARPU which is making it outlie.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64408" y="8214146"/>
            <a:ext cx="10333435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40"/>
              </a:lnSpc>
            </a:pPr>
            <a:r>
              <a:rPr lang="en-US" sz="2100">
                <a:solidFill>
                  <a:srgbClr val="D0DDEF"/>
                </a:solidFill>
                <a:latin typeface="TT Fors"/>
                <a:ea typeface="TT Fors"/>
                <a:cs typeface="TT Fors"/>
                <a:sym typeface="TT Fors"/>
              </a:rPr>
              <a:t>Mu</a:t>
            </a:r>
            <a:r>
              <a:rPr lang="en-US" sz="2100">
                <a:solidFill>
                  <a:srgbClr val="D0DDEF"/>
                </a:solidFill>
                <a:latin typeface="TT Fors"/>
                <a:ea typeface="TT Fors"/>
                <a:cs typeface="TT Fors"/>
                <a:sym typeface="TT Fors"/>
              </a:rPr>
              <a:t>m</a:t>
            </a:r>
            <a:r>
              <a:rPr lang="en-US" sz="2100">
                <a:solidFill>
                  <a:srgbClr val="D0DDEF"/>
                </a:solidFill>
                <a:latin typeface="TT Fors"/>
                <a:ea typeface="TT Fors"/>
                <a:cs typeface="TT Fors"/>
                <a:sym typeface="TT Fors"/>
              </a:rPr>
              <a:t>b</a:t>
            </a:r>
            <a:r>
              <a:rPr lang="en-US" sz="2100">
                <a:solidFill>
                  <a:srgbClr val="D0DDEF"/>
                </a:solidFill>
                <a:latin typeface="TT Fors"/>
                <a:ea typeface="TT Fors"/>
                <a:cs typeface="TT Fors"/>
                <a:sym typeface="TT Fors"/>
              </a:rPr>
              <a:t>a</a:t>
            </a:r>
            <a:r>
              <a:rPr lang="en-US" sz="2100">
                <a:solidFill>
                  <a:srgbClr val="D0DDEF"/>
                </a:solidFill>
                <a:latin typeface="TT Fors"/>
                <a:ea typeface="TT Fors"/>
                <a:cs typeface="TT Fors"/>
                <a:sym typeface="TT Fors"/>
              </a:rPr>
              <a:t>i,</a:t>
            </a:r>
            <a:r>
              <a:rPr lang="en-US" sz="2100">
                <a:solidFill>
                  <a:srgbClr val="D0DDEF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2100">
                <a:solidFill>
                  <a:srgbClr val="D0DDEF"/>
                </a:solidFill>
                <a:latin typeface="TT Fors"/>
                <a:ea typeface="TT Fors"/>
                <a:cs typeface="TT Fors"/>
                <a:sym typeface="TT Fors"/>
              </a:rPr>
              <a:t>Bangalore &amp; Delhi are few cities some of the Top revenue contributors which have shown Outstanding growth of in ARPU for Post 5G Launch Period.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744700" y="7829550"/>
            <a:ext cx="4846643" cy="1791955"/>
            <a:chOff x="0" y="0"/>
            <a:chExt cx="6462190" cy="23892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9144000" y="2309164"/>
            <a:ext cx="7670726" cy="2384682"/>
          </a:xfrm>
          <a:custGeom>
            <a:avLst/>
            <a:gdLst/>
            <a:ahLst/>
            <a:cxnLst/>
            <a:rect r="r" b="b" t="t" l="l"/>
            <a:pathLst>
              <a:path h="2384682" w="7670726">
                <a:moveTo>
                  <a:pt x="0" y="0"/>
                </a:moveTo>
                <a:lnTo>
                  <a:pt x="7670726" y="0"/>
                </a:lnTo>
                <a:lnTo>
                  <a:pt x="7670726" y="2384682"/>
                </a:lnTo>
                <a:lnTo>
                  <a:pt x="0" y="23846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364408" y="5143500"/>
            <a:ext cx="9980177" cy="2539225"/>
          </a:xfrm>
          <a:custGeom>
            <a:avLst/>
            <a:gdLst/>
            <a:ahLst/>
            <a:cxnLst/>
            <a:rect r="r" b="b" t="t" l="l"/>
            <a:pathLst>
              <a:path h="2539225" w="9980177">
                <a:moveTo>
                  <a:pt x="0" y="0"/>
                </a:moveTo>
                <a:lnTo>
                  <a:pt x="9980177" y="0"/>
                </a:lnTo>
                <a:lnTo>
                  <a:pt x="9980177" y="2539225"/>
                </a:lnTo>
                <a:lnTo>
                  <a:pt x="0" y="25392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66750" y="657225"/>
            <a:ext cx="11201400" cy="122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User Analysis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084671" y="2747125"/>
            <a:ext cx="4365558" cy="1470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940"/>
              </a:lnSpc>
            </a:pPr>
            <a:r>
              <a:rPr lang="en-US" sz="2100">
                <a:solidFill>
                  <a:srgbClr val="D0DDEF"/>
                </a:solidFill>
                <a:latin typeface="TT Fors"/>
                <a:ea typeface="TT Fors"/>
                <a:cs typeface="TT Fors"/>
                <a:sym typeface="TT Fors"/>
              </a:rPr>
              <a:t>Ahmedabad, Delhi, Raipur, Patna and Mumbai</a:t>
            </a:r>
            <a:r>
              <a:rPr lang="en-US" sz="2100">
                <a:solidFill>
                  <a:srgbClr val="D0DDEF"/>
                </a:solidFill>
                <a:latin typeface="TT Fors"/>
                <a:ea typeface="TT Fors"/>
                <a:cs typeface="TT Fors"/>
                <a:sym typeface="TT Fors"/>
              </a:rPr>
              <a:t> are the Top cites for No. of Active users change in Post 5G Period.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697844" y="5287257"/>
            <a:ext cx="5299871" cy="2213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</a:pPr>
            <a:r>
              <a:rPr lang="en-US" sz="2100">
                <a:solidFill>
                  <a:srgbClr val="D0DDEF"/>
                </a:solidFill>
                <a:latin typeface="TT Fors"/>
                <a:ea typeface="TT Fors"/>
                <a:cs typeface="TT Fors"/>
                <a:sym typeface="TT Fors"/>
              </a:rPr>
              <a:t>Ahmedabad</a:t>
            </a:r>
            <a:r>
              <a:rPr lang="en-US" sz="2100">
                <a:solidFill>
                  <a:srgbClr val="D0DDEF"/>
                </a:solidFill>
                <a:latin typeface="TT Fors"/>
                <a:ea typeface="TT Fors"/>
                <a:cs typeface="TT Fors"/>
                <a:sym typeface="TT Fors"/>
              </a:rPr>
              <a:t> has the highest -ve growth in Active user.</a:t>
            </a:r>
          </a:p>
          <a:p>
            <a:pPr algn="l" marL="0" indent="0" lvl="0">
              <a:lnSpc>
                <a:spcPts val="2940"/>
              </a:lnSpc>
            </a:pPr>
            <a:r>
              <a:rPr lang="en-US" sz="2100">
                <a:solidFill>
                  <a:srgbClr val="D0DDEF"/>
                </a:solidFill>
                <a:latin typeface="TT Fors"/>
                <a:ea typeface="TT Fors"/>
                <a:cs typeface="TT Fors"/>
                <a:sym typeface="TT Fors"/>
              </a:rPr>
              <a:t>Cities like Mumbai, Delhi &amp; Bangalore which are Top contributor n AVG. Revenue have shown significantly higher -ve growth in No. of Active user for post 5G period.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64408" y="8073250"/>
            <a:ext cx="10333435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40"/>
              </a:lnSpc>
            </a:pPr>
            <a:r>
              <a:rPr lang="en-US" sz="2100">
                <a:solidFill>
                  <a:srgbClr val="D0DDEF"/>
                </a:solidFill>
                <a:latin typeface="TT Fors"/>
                <a:ea typeface="TT Fors"/>
                <a:cs typeface="TT Fors"/>
                <a:sym typeface="TT Fors"/>
              </a:rPr>
              <a:t>O</a:t>
            </a:r>
            <a:r>
              <a:rPr lang="en-US" sz="2100">
                <a:solidFill>
                  <a:srgbClr val="D0DDEF"/>
                </a:solidFill>
                <a:latin typeface="TT Fors"/>
                <a:ea typeface="TT Fors"/>
                <a:cs typeface="TT Fors"/>
                <a:sym typeface="TT Fors"/>
              </a:rPr>
              <a:t>nce Again Pune is clear outlier showing 18.06% positive growth n Active Users for Post 5G Period.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744700" y="7829550"/>
            <a:ext cx="4846643" cy="1791955"/>
            <a:chOff x="0" y="0"/>
            <a:chExt cx="6462190" cy="23892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9144000" y="2161510"/>
            <a:ext cx="7670726" cy="2372390"/>
          </a:xfrm>
          <a:custGeom>
            <a:avLst/>
            <a:gdLst/>
            <a:ahLst/>
            <a:cxnLst/>
            <a:rect r="r" b="b" t="t" l="l"/>
            <a:pathLst>
              <a:path h="2372390" w="7670726">
                <a:moveTo>
                  <a:pt x="0" y="0"/>
                </a:moveTo>
                <a:lnTo>
                  <a:pt x="7670726" y="0"/>
                </a:lnTo>
                <a:lnTo>
                  <a:pt x="7670726" y="2372390"/>
                </a:lnTo>
                <a:lnTo>
                  <a:pt x="0" y="23723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64408" y="5187805"/>
            <a:ext cx="9980177" cy="2450615"/>
          </a:xfrm>
          <a:custGeom>
            <a:avLst/>
            <a:gdLst/>
            <a:ahLst/>
            <a:cxnLst/>
            <a:rect r="r" b="b" t="t" l="l"/>
            <a:pathLst>
              <a:path h="2450615" w="9980177">
                <a:moveTo>
                  <a:pt x="0" y="0"/>
                </a:moveTo>
                <a:lnTo>
                  <a:pt x="9980177" y="0"/>
                </a:lnTo>
                <a:lnTo>
                  <a:pt x="9980177" y="2450615"/>
                </a:lnTo>
                <a:lnTo>
                  <a:pt x="0" y="24506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66750" y="657225"/>
            <a:ext cx="11201400" cy="122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User Analysis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084671" y="2747125"/>
            <a:ext cx="4365558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940"/>
              </a:lnSpc>
            </a:pPr>
            <a:r>
              <a:rPr lang="en-US" sz="2100">
                <a:solidFill>
                  <a:srgbClr val="D0DDEF"/>
                </a:solidFill>
                <a:latin typeface="TT Fors"/>
                <a:ea typeface="TT Fors"/>
                <a:cs typeface="TT Fors"/>
                <a:sym typeface="TT Fors"/>
              </a:rPr>
              <a:t>Except Mumbai</a:t>
            </a:r>
            <a:r>
              <a:rPr lang="en-US" sz="2100">
                <a:solidFill>
                  <a:srgbClr val="D0DDEF"/>
                </a:solidFill>
                <a:latin typeface="TT Fors"/>
                <a:ea typeface="TT Fors"/>
                <a:cs typeface="TT Fors"/>
                <a:sym typeface="TT Fors"/>
              </a:rPr>
              <a:t> all cities can be considered to be failed in retaining their subscribers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697844" y="5613082"/>
            <a:ext cx="5299871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</a:pPr>
            <a:r>
              <a:rPr lang="en-US" sz="2100">
                <a:solidFill>
                  <a:srgbClr val="D0DDEF"/>
                </a:solidFill>
                <a:latin typeface="TT Fors"/>
                <a:ea typeface="TT Fors"/>
                <a:cs typeface="TT Fors"/>
                <a:sym typeface="TT Fors"/>
              </a:rPr>
              <a:t>Lucknow</a:t>
            </a:r>
            <a:r>
              <a:rPr lang="en-US" sz="2100">
                <a:solidFill>
                  <a:srgbClr val="D0DDEF"/>
                </a:solidFill>
                <a:latin typeface="TT Fors"/>
                <a:ea typeface="TT Fors"/>
                <a:cs typeface="TT Fors"/>
                <a:sym typeface="TT Fors"/>
              </a:rPr>
              <a:t> has significantly higher Monthly unsubscribed user rate which shows it’s poor performance for Post 5G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64408" y="8073250"/>
            <a:ext cx="10333435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40"/>
              </a:lnSpc>
            </a:pPr>
            <a:r>
              <a:rPr lang="en-US" sz="2100">
                <a:solidFill>
                  <a:srgbClr val="D0DDEF"/>
                </a:solidFill>
                <a:latin typeface="TT Fors"/>
                <a:ea typeface="TT Fors"/>
                <a:cs typeface="TT Fors"/>
                <a:sym typeface="TT Fors"/>
              </a:rPr>
              <a:t>M</a:t>
            </a:r>
            <a:r>
              <a:rPr lang="en-US" sz="2100">
                <a:solidFill>
                  <a:srgbClr val="D0DDEF"/>
                </a:solidFill>
                <a:latin typeface="TT Fors"/>
                <a:ea typeface="TT Fors"/>
                <a:cs typeface="TT Fors"/>
                <a:sym typeface="TT Fors"/>
              </a:rPr>
              <a:t>umbai has shown noticeable -ve growth in Monthly Unsubscribed User for Post 5G, which is actually a positive sign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744700" y="7829550"/>
            <a:ext cx="4846643" cy="1791955"/>
            <a:chOff x="0" y="0"/>
            <a:chExt cx="6462190" cy="23892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028700" y="4423383"/>
            <a:ext cx="11662227" cy="5217069"/>
          </a:xfrm>
          <a:custGeom>
            <a:avLst/>
            <a:gdLst/>
            <a:ahLst/>
            <a:cxnLst/>
            <a:rect r="r" b="b" t="t" l="l"/>
            <a:pathLst>
              <a:path h="5217069" w="11662227">
                <a:moveTo>
                  <a:pt x="0" y="0"/>
                </a:moveTo>
                <a:lnTo>
                  <a:pt x="11662227" y="0"/>
                </a:lnTo>
                <a:lnTo>
                  <a:pt x="11662227" y="5217070"/>
                </a:lnTo>
                <a:lnTo>
                  <a:pt x="0" y="52170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797" t="-8290" r="-4198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66750" y="657225"/>
            <a:ext cx="11201400" cy="122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 strike="noStrike" u="none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Market Share Dynamics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6750" y="3228948"/>
            <a:ext cx="16933365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</a:pPr>
            <a:r>
              <a:rPr lang="en-US" sz="2100">
                <a:solidFill>
                  <a:srgbClr val="D0DDEF"/>
                </a:solidFill>
                <a:latin typeface="TT Fors"/>
                <a:ea typeface="TT Fors"/>
                <a:cs typeface="TT Fors"/>
                <a:sym typeface="TT Fors"/>
              </a:rPr>
              <a:t>The </a:t>
            </a:r>
            <a:r>
              <a:rPr lang="en-US" b="true" sz="2100">
                <a:solidFill>
                  <a:srgbClr val="D0DDEF"/>
                </a:solidFill>
                <a:latin typeface="TT Fors Bold"/>
                <a:ea typeface="TT Fors Bold"/>
                <a:cs typeface="TT Fors Bold"/>
                <a:sym typeface="TT Fors Bold"/>
              </a:rPr>
              <a:t>market share landscape</a:t>
            </a:r>
            <a:r>
              <a:rPr lang="en-US" sz="2100">
                <a:solidFill>
                  <a:srgbClr val="D0DDEF"/>
                </a:solidFill>
                <a:latin typeface="TT Fors"/>
                <a:ea typeface="TT Fors"/>
                <a:cs typeface="TT Fors"/>
                <a:sym typeface="TT Fors"/>
              </a:rPr>
              <a:t> remains challenging, with Leader Pio dominating at approximately 35–37%. Meanwhile, AtliQo's position has stagnated around 10–11%, highlighting low competitive gain since the introduction of 5G.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66750" y="2343150"/>
            <a:ext cx="9763125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39"/>
              </a:lnSpc>
              <a:spcBef>
                <a:spcPct val="0"/>
              </a:spcBef>
            </a:pPr>
            <a:r>
              <a:rPr lang="en-US" sz="3199" spc="-95" strike="noStrike" u="none">
                <a:solidFill>
                  <a:srgbClr val="E1E9F8"/>
                </a:solidFill>
                <a:latin typeface="TT Fors"/>
                <a:ea typeface="TT Fors"/>
                <a:cs typeface="TT Fors"/>
                <a:sym typeface="TT Fors"/>
              </a:rPr>
              <a:t>Competitive Positioning Overview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3216371" y="5143500"/>
            <a:ext cx="3672421" cy="1828800"/>
            <a:chOff x="0" y="0"/>
            <a:chExt cx="4896561" cy="2438400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0"/>
              <a:ext cx="4896561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>
                  <a:solidFill>
                    <a:srgbClr val="E1E9F8"/>
                  </a:solidFill>
                  <a:latin typeface="TT Fors"/>
                  <a:ea typeface="TT Fors"/>
                  <a:cs typeface="TT Fors"/>
                  <a:sym typeface="TT Fors"/>
                </a:rPr>
                <a:t>Pre 5G: 20.24%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895350"/>
              <a:ext cx="4896561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>
                  <a:solidFill>
                    <a:srgbClr val="E1E9F8"/>
                  </a:solidFill>
                  <a:latin typeface="TT Fors"/>
                  <a:ea typeface="TT Fors"/>
                  <a:cs typeface="TT Fors"/>
                  <a:sym typeface="TT Fors"/>
                </a:rPr>
                <a:t>Post 5G: 18.88%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1790700"/>
              <a:ext cx="4896561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>
                  <a:solidFill>
                    <a:srgbClr val="E1E9F8"/>
                  </a:solidFill>
                  <a:latin typeface="TT Fors"/>
                  <a:ea typeface="TT Fors"/>
                  <a:cs typeface="TT Fors"/>
                  <a:sym typeface="TT Fors"/>
                </a:rPr>
                <a:t>▼: -06.69%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744700" y="7829550"/>
            <a:ext cx="4846643" cy="1791955"/>
            <a:chOff x="0" y="0"/>
            <a:chExt cx="6462190" cy="23892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6363659" y="3217950"/>
            <a:ext cx="5560683" cy="5022041"/>
          </a:xfrm>
          <a:custGeom>
            <a:avLst/>
            <a:gdLst/>
            <a:ahLst/>
            <a:cxnLst/>
            <a:rect r="r" b="b" t="t" l="l"/>
            <a:pathLst>
              <a:path h="5022041" w="5560683">
                <a:moveTo>
                  <a:pt x="0" y="0"/>
                </a:moveTo>
                <a:lnTo>
                  <a:pt x="5560682" y="0"/>
                </a:lnTo>
                <a:lnTo>
                  <a:pt x="5560682" y="5022041"/>
                </a:lnTo>
                <a:lnTo>
                  <a:pt x="0" y="50220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66750" y="657225"/>
            <a:ext cx="11201400" cy="2232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 strike="noStrike" u="none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Revenue Performance Overview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8530590"/>
            <a:ext cx="12780102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</a:pPr>
            <a:r>
              <a:rPr lang="en-US" sz="2100">
                <a:solidFill>
                  <a:srgbClr val="D0DDEF"/>
                </a:solidFill>
                <a:latin typeface="TT Fors"/>
                <a:ea typeface="TT Fors"/>
                <a:cs typeface="TT Fors"/>
                <a:sym typeface="TT Fors"/>
              </a:rPr>
              <a:t>Mumbai continues to be the </a:t>
            </a:r>
            <a:r>
              <a:rPr lang="en-US" b="true" sz="2100">
                <a:solidFill>
                  <a:srgbClr val="D0DDEF"/>
                </a:solidFill>
                <a:latin typeface="TT Fors Bold"/>
                <a:ea typeface="TT Fors Bold"/>
                <a:cs typeface="TT Fors Bold"/>
                <a:sym typeface="TT Fors Bold"/>
              </a:rPr>
              <a:t>largest revenue hub</a:t>
            </a:r>
            <a:r>
              <a:rPr lang="en-US" sz="2100">
                <a:solidFill>
                  <a:srgbClr val="D0DDEF"/>
                </a:solidFill>
                <a:latin typeface="TT Fors"/>
                <a:ea typeface="TT Fors"/>
                <a:cs typeface="TT Fors"/>
                <a:sym typeface="TT Fors"/>
              </a:rPr>
              <a:t> for AtliQo despite experiencing low growth. Meanwhile, Delhi faces a decline in revenue, while Bengaluru shows positive margins, indicating resilience.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3376779"/>
            <a:ext cx="9763125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39"/>
              </a:lnSpc>
              <a:spcBef>
                <a:spcPct val="0"/>
              </a:spcBef>
            </a:pPr>
            <a:r>
              <a:rPr lang="en-US" sz="3199" spc="-95" strike="noStrike" u="none">
                <a:solidFill>
                  <a:srgbClr val="E1E9F8"/>
                </a:solidFill>
                <a:latin typeface="TT Fors"/>
                <a:ea typeface="TT Fors"/>
                <a:cs typeface="TT Fors"/>
                <a:sym typeface="TT Fors"/>
              </a:rPr>
              <a:t>Insights into Key Cities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744700" y="7829550"/>
            <a:ext cx="4846643" cy="1791955"/>
            <a:chOff x="0" y="0"/>
            <a:chExt cx="6462190" cy="23892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028700" y="5143500"/>
            <a:ext cx="12950835" cy="3057836"/>
          </a:xfrm>
          <a:custGeom>
            <a:avLst/>
            <a:gdLst/>
            <a:ahLst/>
            <a:cxnLst/>
            <a:rect r="r" b="b" t="t" l="l"/>
            <a:pathLst>
              <a:path h="3057836" w="12950835">
                <a:moveTo>
                  <a:pt x="0" y="0"/>
                </a:moveTo>
                <a:lnTo>
                  <a:pt x="12950835" y="0"/>
                </a:lnTo>
                <a:lnTo>
                  <a:pt x="12950835" y="3057836"/>
                </a:lnTo>
                <a:lnTo>
                  <a:pt x="0" y="30578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66750" y="657225"/>
            <a:ext cx="11201400" cy="122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 strike="noStrike" u="none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Plan P1 Performance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6750" y="3228948"/>
            <a:ext cx="8324850" cy="1470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</a:pPr>
            <a:r>
              <a:rPr lang="en-US" sz="2100">
                <a:solidFill>
                  <a:srgbClr val="D0DDEF"/>
                </a:solidFill>
                <a:latin typeface="TT Fors"/>
                <a:ea typeface="TT Fors"/>
                <a:cs typeface="TT Fors"/>
                <a:sym typeface="TT Fors"/>
              </a:rPr>
              <a:t>The Smart Recharge Pack has shown remarkable growth, increasing revenue from ₹1.8bn to ₹2.4bn post-5G launch, highlighting the importance of </a:t>
            </a:r>
            <a:r>
              <a:rPr lang="en-US" b="true" sz="2100">
                <a:solidFill>
                  <a:srgbClr val="D0DDEF"/>
                </a:solidFill>
                <a:latin typeface="TT Fors Bold"/>
                <a:ea typeface="TT Fors Bold"/>
                <a:cs typeface="TT Fors Bold"/>
                <a:sym typeface="TT Fors Bold"/>
              </a:rPr>
              <a:t>aggressive promotion</a:t>
            </a:r>
            <a:r>
              <a:rPr lang="en-US" sz="2100">
                <a:solidFill>
                  <a:srgbClr val="D0DDEF"/>
                </a:solidFill>
                <a:latin typeface="TT Fors"/>
                <a:ea typeface="TT Fors"/>
                <a:cs typeface="TT Fors"/>
                <a:sym typeface="TT Fors"/>
              </a:rPr>
              <a:t> of bundled plans.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66750" y="2343150"/>
            <a:ext cx="9763125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39"/>
              </a:lnSpc>
              <a:spcBef>
                <a:spcPct val="0"/>
              </a:spcBef>
            </a:pPr>
            <a:r>
              <a:rPr lang="en-US" sz="3199" spc="-95" strike="noStrike" u="none">
                <a:solidFill>
                  <a:srgbClr val="E1E9F8"/>
                </a:solidFill>
                <a:latin typeface="TT Fors"/>
                <a:ea typeface="TT Fors"/>
                <a:cs typeface="TT Fors"/>
                <a:sym typeface="TT Fors"/>
              </a:rPr>
              <a:t>Success of Smart Recharge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744700" y="7829550"/>
            <a:ext cx="4846643" cy="1791955"/>
            <a:chOff x="0" y="0"/>
            <a:chExt cx="6462190" cy="23892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028700" y="2640569"/>
            <a:ext cx="8954820" cy="5798205"/>
          </a:xfrm>
          <a:custGeom>
            <a:avLst/>
            <a:gdLst/>
            <a:ahLst/>
            <a:cxnLst/>
            <a:rect r="r" b="b" t="t" l="l"/>
            <a:pathLst>
              <a:path h="5798205" w="8954820">
                <a:moveTo>
                  <a:pt x="0" y="0"/>
                </a:moveTo>
                <a:lnTo>
                  <a:pt x="8954820" y="0"/>
                </a:lnTo>
                <a:lnTo>
                  <a:pt x="8954820" y="5798205"/>
                </a:lnTo>
                <a:lnTo>
                  <a:pt x="0" y="57982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1232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66750" y="657225"/>
            <a:ext cx="11201400" cy="122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 strike="noStrike" u="none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Plan Analysis</a:t>
            </a:r>
          </a:p>
        </p:txBody>
      </p:sp>
      <p:sp>
        <p:nvSpPr>
          <p:cNvPr name="AutoShape 8" id="8"/>
          <p:cNvSpPr/>
          <p:nvPr/>
        </p:nvSpPr>
        <p:spPr>
          <a:xfrm>
            <a:off x="10286065" y="3205046"/>
            <a:ext cx="713265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9" id="9"/>
          <p:cNvSpPr txBox="true"/>
          <p:nvPr/>
        </p:nvSpPr>
        <p:spPr>
          <a:xfrm rot="0">
            <a:off x="11304129" y="2822141"/>
            <a:ext cx="4847873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</a:pPr>
            <a:r>
              <a:rPr lang="en-US" sz="2100">
                <a:solidFill>
                  <a:srgbClr val="D0DDEF"/>
                </a:solidFill>
                <a:latin typeface="TT Fors"/>
                <a:ea typeface="TT Fors"/>
                <a:cs typeface="TT Fors"/>
                <a:sym typeface="TT Fors"/>
              </a:rPr>
              <a:t>Pl</a:t>
            </a:r>
            <a:r>
              <a:rPr lang="en-US" sz="2100">
                <a:solidFill>
                  <a:srgbClr val="D0DDEF"/>
                </a:solidFill>
                <a:latin typeface="TT Fors"/>
                <a:ea typeface="TT Fors"/>
                <a:cs typeface="TT Fors"/>
                <a:sym typeface="TT Fors"/>
              </a:rPr>
              <a:t>an P1 has been leading with highest revenue in both ph</a:t>
            </a:r>
            <a:r>
              <a:rPr lang="en-US" sz="2100">
                <a:solidFill>
                  <a:srgbClr val="D0DDEF"/>
                </a:solidFill>
                <a:latin typeface="TT Fors"/>
                <a:ea typeface="TT Fors"/>
                <a:cs typeface="TT Fors"/>
                <a:sym typeface="TT Fors"/>
              </a:rPr>
              <a:t>ase</a:t>
            </a:r>
            <a:r>
              <a:rPr lang="en-US" sz="2100">
                <a:solidFill>
                  <a:srgbClr val="D0DDEF"/>
                </a:solidFill>
                <a:latin typeface="TT Fors"/>
                <a:ea typeface="TT Fors"/>
                <a:cs typeface="TT Fors"/>
                <a:sym typeface="TT Fors"/>
              </a:rPr>
              <a:t>s</a:t>
            </a:r>
          </a:p>
        </p:txBody>
      </p:sp>
      <p:sp>
        <p:nvSpPr>
          <p:cNvPr name="AutoShape 10" id="10"/>
          <p:cNvSpPr/>
          <p:nvPr/>
        </p:nvSpPr>
        <p:spPr>
          <a:xfrm>
            <a:off x="10286065" y="4096942"/>
            <a:ext cx="713265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1" id="11"/>
          <p:cNvSpPr txBox="true"/>
          <p:nvPr/>
        </p:nvSpPr>
        <p:spPr>
          <a:xfrm rot="0">
            <a:off x="11304129" y="3714037"/>
            <a:ext cx="5955171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</a:pPr>
            <a:r>
              <a:rPr lang="en-US" sz="2100">
                <a:solidFill>
                  <a:srgbClr val="D0DDEF"/>
                </a:solidFill>
                <a:latin typeface="TT Fors"/>
                <a:ea typeface="TT Fors"/>
                <a:cs typeface="TT Fors"/>
                <a:sym typeface="TT Fors"/>
              </a:rPr>
              <a:t>P2 &amp;</a:t>
            </a:r>
            <a:r>
              <a:rPr lang="en-US" sz="2100">
                <a:solidFill>
                  <a:srgbClr val="D0DDEF"/>
                </a:solidFill>
                <a:latin typeface="TT Fors"/>
                <a:ea typeface="TT Fors"/>
                <a:cs typeface="TT Fors"/>
                <a:sym typeface="TT Fors"/>
              </a:rPr>
              <a:t> P3 has been almost maintaining its revenue levels in Per &amp; Post 5G launch p</a:t>
            </a:r>
            <a:r>
              <a:rPr lang="en-US" sz="2100">
                <a:solidFill>
                  <a:srgbClr val="D0DDEF"/>
                </a:solidFill>
                <a:latin typeface="TT Fors"/>
                <a:ea typeface="TT Fors"/>
                <a:cs typeface="TT Fors"/>
                <a:sym typeface="TT Fors"/>
              </a:rPr>
              <a:t>eriod</a:t>
            </a:r>
            <a:r>
              <a:rPr lang="en-US" sz="2100">
                <a:solidFill>
                  <a:srgbClr val="D0DDEF"/>
                </a:solidFill>
                <a:latin typeface="TT Fors"/>
                <a:ea typeface="TT Fors"/>
                <a:cs typeface="TT Fors"/>
                <a:sym typeface="TT Fors"/>
              </a:rPr>
              <a:t>s</a:t>
            </a:r>
          </a:p>
        </p:txBody>
      </p:sp>
      <p:sp>
        <p:nvSpPr>
          <p:cNvPr name="AutoShape 12" id="12"/>
          <p:cNvSpPr/>
          <p:nvPr/>
        </p:nvSpPr>
        <p:spPr>
          <a:xfrm>
            <a:off x="10286065" y="4992292"/>
            <a:ext cx="713265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3" id="13"/>
          <p:cNvSpPr txBox="true"/>
          <p:nvPr/>
        </p:nvSpPr>
        <p:spPr>
          <a:xfrm rot="0">
            <a:off x="11304129" y="4609387"/>
            <a:ext cx="5955171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</a:pPr>
            <a:r>
              <a:rPr lang="en-US" sz="2100">
                <a:solidFill>
                  <a:srgbClr val="D0DDEF"/>
                </a:solidFill>
                <a:latin typeface="TT Fors"/>
                <a:ea typeface="TT Fors"/>
                <a:cs typeface="TT Fors"/>
                <a:sym typeface="TT Fors"/>
              </a:rPr>
              <a:t>There is a declined P4, P5 &amp;</a:t>
            </a:r>
            <a:r>
              <a:rPr lang="en-US" sz="2100">
                <a:solidFill>
                  <a:srgbClr val="D0DDEF"/>
                </a:solidFill>
                <a:latin typeface="TT Fors"/>
                <a:ea typeface="TT Fors"/>
                <a:cs typeface="TT Fors"/>
                <a:sym typeface="TT Fors"/>
              </a:rPr>
              <a:t> P6 has been almost maintaining its revenue levels in Pre &amp; Post 5G p</a:t>
            </a:r>
            <a:r>
              <a:rPr lang="en-US" sz="2100">
                <a:solidFill>
                  <a:srgbClr val="D0DDEF"/>
                </a:solidFill>
                <a:latin typeface="TT Fors"/>
                <a:ea typeface="TT Fors"/>
                <a:cs typeface="TT Fors"/>
                <a:sym typeface="TT Fors"/>
              </a:rPr>
              <a:t>eriod</a:t>
            </a:r>
          </a:p>
        </p:txBody>
      </p:sp>
      <p:sp>
        <p:nvSpPr>
          <p:cNvPr name="AutoShape 14" id="14"/>
          <p:cNvSpPr/>
          <p:nvPr/>
        </p:nvSpPr>
        <p:spPr>
          <a:xfrm>
            <a:off x="10287192" y="6086715"/>
            <a:ext cx="713265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5" id="15"/>
          <p:cNvSpPr txBox="true"/>
          <p:nvPr/>
        </p:nvSpPr>
        <p:spPr>
          <a:xfrm rot="0">
            <a:off x="11304129" y="5870497"/>
            <a:ext cx="5955171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</a:pPr>
            <a:r>
              <a:rPr lang="en-US" sz="2100">
                <a:solidFill>
                  <a:srgbClr val="D0DDEF"/>
                </a:solidFill>
                <a:latin typeface="TT Fors"/>
                <a:ea typeface="TT Fors"/>
                <a:cs typeface="TT Fors"/>
                <a:sym typeface="TT Fors"/>
              </a:rPr>
              <a:t>P7</a:t>
            </a:r>
            <a:r>
              <a:rPr lang="en-US" sz="2100">
                <a:solidFill>
                  <a:srgbClr val="D0DDEF"/>
                </a:solidFill>
                <a:latin typeface="TT Fors"/>
                <a:ea typeface="TT Fors"/>
                <a:cs typeface="TT Fors"/>
                <a:sym typeface="TT Fors"/>
              </a:rPr>
              <a:t> has sharp declined in Revenue for Post 5G</a:t>
            </a:r>
          </a:p>
        </p:txBody>
      </p:sp>
      <p:sp>
        <p:nvSpPr>
          <p:cNvPr name="AutoShape 16" id="16"/>
          <p:cNvSpPr/>
          <p:nvPr/>
        </p:nvSpPr>
        <p:spPr>
          <a:xfrm>
            <a:off x="10287192" y="6694719"/>
            <a:ext cx="713265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7" id="17"/>
          <p:cNvSpPr txBox="true"/>
          <p:nvPr/>
        </p:nvSpPr>
        <p:spPr>
          <a:xfrm rot="0">
            <a:off x="11304129" y="6497551"/>
            <a:ext cx="5955171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</a:pPr>
            <a:r>
              <a:rPr lang="en-US" sz="2100">
                <a:solidFill>
                  <a:srgbClr val="D0DDEF"/>
                </a:solidFill>
                <a:latin typeface="TT Fors"/>
                <a:ea typeface="TT Fors"/>
                <a:cs typeface="TT Fors"/>
                <a:sym typeface="TT Fors"/>
              </a:rPr>
              <a:t>P8, P9 &amp; P10</a:t>
            </a:r>
            <a:r>
              <a:rPr lang="en-US" sz="2100">
                <a:solidFill>
                  <a:srgbClr val="D0DDEF"/>
                </a:solidFill>
                <a:latin typeface="TT Fors"/>
                <a:ea typeface="TT Fors"/>
                <a:cs typeface="TT Fors"/>
                <a:sym typeface="TT Fors"/>
              </a:rPr>
              <a:t> has been discontinued in post 5G, Neither of them have performed well in pre 5G launch period.</a:t>
            </a:r>
          </a:p>
        </p:txBody>
      </p:sp>
      <p:sp>
        <p:nvSpPr>
          <p:cNvPr name="AutoShape 18" id="18"/>
          <p:cNvSpPr/>
          <p:nvPr/>
        </p:nvSpPr>
        <p:spPr>
          <a:xfrm>
            <a:off x="1303536" y="8744577"/>
            <a:ext cx="713265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9" id="19"/>
          <p:cNvSpPr txBox="true"/>
          <p:nvPr/>
        </p:nvSpPr>
        <p:spPr>
          <a:xfrm rot="0">
            <a:off x="2296494" y="8522320"/>
            <a:ext cx="7989571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</a:pPr>
            <a:r>
              <a:rPr lang="en-US" sz="2100">
                <a:solidFill>
                  <a:srgbClr val="D0DDEF"/>
                </a:solidFill>
                <a:latin typeface="TT Fors"/>
                <a:ea typeface="TT Fors"/>
                <a:cs typeface="TT Fors"/>
                <a:sym typeface="TT Fors"/>
              </a:rPr>
              <a:t>P11, P12 &amp; P13</a:t>
            </a:r>
            <a:r>
              <a:rPr lang="en-US" sz="2100">
                <a:solidFill>
                  <a:srgbClr val="D0DDEF"/>
                </a:solidFill>
                <a:latin typeface="TT Fors"/>
                <a:ea typeface="TT Fors"/>
                <a:cs typeface="TT Fors"/>
                <a:sym typeface="TT Fors"/>
              </a:rPr>
              <a:t> has been introduced post 5G. Out of that P11 has been most successful and P13 is not performing well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0B1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57225"/>
            <a:ext cx="15516225" cy="122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 strike="noStrike" u="none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Strategic Recommendations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7829550"/>
            <a:ext cx="6886575" cy="1754092"/>
            <a:chOff x="0" y="0"/>
            <a:chExt cx="9182100" cy="233879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913596"/>
              <a:ext cx="9182100" cy="14251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03"/>
                </a:lnSpc>
              </a:pPr>
              <a:r>
                <a:rPr lang="en-US" sz="2073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Prioritize expansion efforts in Tier-2 cities, capitalizing on growth opportunities and fostering a strong customer base in emerging markets for enhanced revenue.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104775"/>
              <a:ext cx="9182100" cy="6147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94"/>
                </a:lnSpc>
                <a:spcBef>
                  <a:spcPct val="0"/>
                </a:spcBef>
              </a:pPr>
              <a:r>
                <a:rPr lang="en-US" b="true" sz="2567" spc="-77" strike="noStrike" u="none">
                  <a:solidFill>
                    <a:srgbClr val="E1E9F8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Tier-2 Focus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66750" y="5143500"/>
            <a:ext cx="6886575" cy="2116042"/>
            <a:chOff x="0" y="0"/>
            <a:chExt cx="9182100" cy="282139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913596"/>
              <a:ext cx="9182100" cy="19077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03"/>
                </a:lnSpc>
              </a:pPr>
              <a:r>
                <a:rPr lang="en-US" sz="2073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Create a comprehensive app and content bundled ecosystem to enhance customer engagement, fostering loyalty through exclusive offerings and unique experiences.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104775"/>
              <a:ext cx="9182100" cy="6147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94"/>
                </a:lnSpc>
                <a:spcBef>
                  <a:spcPct val="0"/>
                </a:spcBef>
              </a:pPr>
              <a:r>
                <a:rPr lang="en-US" b="true" sz="2567" spc="-77" strike="noStrike" u="none">
                  <a:solidFill>
                    <a:srgbClr val="E1E9F8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Bundled Ecosystem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66750" y="2457450"/>
            <a:ext cx="6886575" cy="2116042"/>
            <a:chOff x="0" y="0"/>
            <a:chExt cx="9182100" cy="2821390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913596"/>
              <a:ext cx="9182100" cy="19077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03"/>
                </a:lnSpc>
              </a:pPr>
              <a:r>
                <a:rPr lang="en-US" sz="2073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Implement targeted marketing campaigns to reduce churn rates in metro areas, enhancing customer retention through tailored incentives and personalized services.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104775"/>
              <a:ext cx="9182100" cy="6147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94"/>
                </a:lnSpc>
                <a:spcBef>
                  <a:spcPct val="0"/>
                </a:spcBef>
              </a:pPr>
              <a:r>
                <a:rPr lang="en-US" b="true" sz="2567" spc="-77" strike="noStrike" u="none">
                  <a:solidFill>
                    <a:srgbClr val="E1E9F8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Metro Churn-Reduction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296400" y="5143500"/>
            <a:ext cx="6886575" cy="2116042"/>
            <a:chOff x="0" y="0"/>
            <a:chExt cx="9182100" cy="2821390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913596"/>
              <a:ext cx="9182100" cy="19077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03"/>
                </a:lnSpc>
              </a:pPr>
              <a:r>
                <a:rPr lang="en-US" sz="2073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Introduce retention rewards for long-term users, providing incentives for loyalty that will strengthen relationships and reduce the risk of churn in key segments.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104775"/>
              <a:ext cx="9182100" cy="6147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94"/>
                </a:lnSpc>
                <a:spcBef>
                  <a:spcPct val="0"/>
                </a:spcBef>
              </a:pPr>
              <a:r>
                <a:rPr lang="en-US" b="true" sz="2567" spc="-77" strike="noStrike" u="none">
                  <a:solidFill>
                    <a:srgbClr val="E1E9F8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Retention Rewards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296400" y="2457450"/>
            <a:ext cx="6886575" cy="2116042"/>
            <a:chOff x="0" y="0"/>
            <a:chExt cx="9182100" cy="2821390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913596"/>
              <a:ext cx="9182100" cy="19077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03"/>
                </a:lnSpc>
              </a:pPr>
              <a:r>
                <a:rPr lang="en-US" sz="2073">
                  <a:solidFill>
                    <a:srgbClr val="D0DDEF"/>
                  </a:solidFill>
                  <a:latin typeface="TT Fors"/>
                  <a:ea typeface="TT Fors"/>
                  <a:cs typeface="TT Fors"/>
                  <a:sym typeface="TT Fors"/>
                </a:rPr>
                <a:t>Develop competitive entry-tier 5G plans that attract budget-conscious consumers, expanding market reach and increasing overall user adoption in diverse demographics.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-104775"/>
              <a:ext cx="9182100" cy="6147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94"/>
                </a:lnSpc>
                <a:spcBef>
                  <a:spcPct val="0"/>
                </a:spcBef>
              </a:pPr>
              <a:r>
                <a:rPr lang="en-US" b="true" sz="2567" spc="-77" strike="noStrike" u="none">
                  <a:solidFill>
                    <a:srgbClr val="E1E9F8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Affordable Plans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744700" y="7829550"/>
            <a:ext cx="4846643" cy="1791955"/>
            <a:chOff x="0" y="0"/>
            <a:chExt cx="6462190" cy="23892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2931832" y="4527550"/>
            <a:ext cx="12424337" cy="122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DASHBOARD SCREENSHOT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25873" y="394064"/>
            <a:ext cx="14236254" cy="9498873"/>
          </a:xfrm>
          <a:custGeom>
            <a:avLst/>
            <a:gdLst/>
            <a:ahLst/>
            <a:cxnLst/>
            <a:rect r="r" b="b" t="t" l="l"/>
            <a:pathLst>
              <a:path h="9498873" w="14236254">
                <a:moveTo>
                  <a:pt x="0" y="0"/>
                </a:moveTo>
                <a:lnTo>
                  <a:pt x="14236254" y="0"/>
                </a:lnTo>
                <a:lnTo>
                  <a:pt x="14236254" y="9498872"/>
                </a:lnTo>
                <a:lnTo>
                  <a:pt x="0" y="94988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74735" y="422669"/>
            <a:ext cx="14138531" cy="9441663"/>
          </a:xfrm>
          <a:custGeom>
            <a:avLst/>
            <a:gdLst/>
            <a:ahLst/>
            <a:cxnLst/>
            <a:rect r="r" b="b" t="t" l="l"/>
            <a:pathLst>
              <a:path h="9441663" w="14138531">
                <a:moveTo>
                  <a:pt x="0" y="0"/>
                </a:moveTo>
                <a:lnTo>
                  <a:pt x="14138530" y="0"/>
                </a:lnTo>
                <a:lnTo>
                  <a:pt x="14138530" y="9441662"/>
                </a:lnTo>
                <a:lnTo>
                  <a:pt x="0" y="94416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11335" y="462996"/>
            <a:ext cx="14065331" cy="9361007"/>
          </a:xfrm>
          <a:custGeom>
            <a:avLst/>
            <a:gdLst/>
            <a:ahLst/>
            <a:cxnLst/>
            <a:rect r="r" b="b" t="t" l="l"/>
            <a:pathLst>
              <a:path h="9361007" w="14065331">
                <a:moveTo>
                  <a:pt x="0" y="0"/>
                </a:moveTo>
                <a:lnTo>
                  <a:pt x="14065330" y="0"/>
                </a:lnTo>
                <a:lnTo>
                  <a:pt x="14065330" y="9361008"/>
                </a:lnTo>
                <a:lnTo>
                  <a:pt x="0" y="93610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59707" y="426647"/>
            <a:ext cx="14168585" cy="9433706"/>
          </a:xfrm>
          <a:custGeom>
            <a:avLst/>
            <a:gdLst/>
            <a:ahLst/>
            <a:cxnLst/>
            <a:rect r="r" b="b" t="t" l="l"/>
            <a:pathLst>
              <a:path h="9433706" w="14168585">
                <a:moveTo>
                  <a:pt x="0" y="0"/>
                </a:moveTo>
                <a:lnTo>
                  <a:pt x="14168586" y="0"/>
                </a:lnTo>
                <a:lnTo>
                  <a:pt x="14168586" y="9433706"/>
                </a:lnTo>
                <a:lnTo>
                  <a:pt x="0" y="94337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56421" y="503156"/>
            <a:ext cx="15975159" cy="9280689"/>
          </a:xfrm>
          <a:custGeom>
            <a:avLst/>
            <a:gdLst/>
            <a:ahLst/>
            <a:cxnLst/>
            <a:rect r="r" b="b" t="t" l="l"/>
            <a:pathLst>
              <a:path h="9280689" w="15975159">
                <a:moveTo>
                  <a:pt x="0" y="0"/>
                </a:moveTo>
                <a:lnTo>
                  <a:pt x="15975158" y="0"/>
                </a:lnTo>
                <a:lnTo>
                  <a:pt x="15975158" y="9280688"/>
                </a:lnTo>
                <a:lnTo>
                  <a:pt x="0" y="92806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744700" y="7829550"/>
            <a:ext cx="4846643" cy="1791955"/>
            <a:chOff x="0" y="0"/>
            <a:chExt cx="6462190" cy="23892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2931832" y="4527550"/>
            <a:ext cx="12424337" cy="122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THANKYOU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- 5G Impact Analysis</dc:description>
  <dc:identifier>DAG6AiCDtxg</dc:identifier>
  <dcterms:modified xsi:type="dcterms:W3CDTF">2011-08-01T06:04:30Z</dcterms:modified>
  <cp:revision>1</cp:revision>
  <dc:title>AtliQo Telecom Analysis</dc:title>
</cp:coreProperties>
</file>